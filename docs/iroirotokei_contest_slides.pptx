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n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photo_c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234440"/>
            <a:ext cx="3977639" cy="39776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1874519"/>
            <a:ext cx="65836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7600" b="1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色時計</a:t>
            </a:r>
          </a:p>
          <a:p>
            <a:pPr algn="l">
              <a:spcAft>
                <a:spcPts val="2000"/>
              </a:spcAft>
            </a:pPr>
            <a:r>
              <a:rPr sz="1900" b="0" i="1">
                <a:solidFill>
                  <a:srgbClr val="F9C46B"/>
                </a:solidFill>
                <a:latin typeface="Meiryo"/>
                <a:ea typeface="Meiryo"/>
                <a:cs typeface="Meiryo"/>
              </a:rPr>
              <a:t>iroirotokei — A Color Clock That Paints Time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7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24時間、空の色をなぞって変わりつづけるカラークロック。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7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1,677万色から自分の色を混ぜて、その色を音で聴く。</a:t>
            </a:r>
          </a:p>
          <a:p>
            <a:pPr algn="l">
              <a:lnSpc>
                <a:spcPct val="130000"/>
              </a:lnSpc>
              <a:spcAft>
                <a:spcPts val="1400"/>
              </a:spcAft>
            </a:pPr>
            <a:r>
              <a:rPr sz="17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かたむければ水彩のように混ざり、声さえも色になる。</a:t>
            </a:r>
          </a:p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A clock that drifts through the sky's colors over 24 hours — mix colors, hear them as notes, paint by tilting, and even your voice becomes color.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98932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M5Stack StopWatch  |  M5Stack Global Innovation Contest 2026 応募作品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時間を、数字ではなく色で感じる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07008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時計がなかった頃、人は空の色で時を知った。色時計はその感覚をデジタルに取り戻す。</a:t>
            </a:r>
          </a:p>
          <a:p>
            <a:pPr algn="l"/>
            <a:r>
              <a:rPr sz="1250" b="0" i="1">
                <a:solidFill>
                  <a:srgbClr val="A9B4D6"/>
                </a:solidFill>
                <a:latin typeface="Meiryo"/>
                <a:ea typeface="Meiryo"/>
                <a:cs typeface="Meiryo"/>
              </a:rPr>
              <a:t>Feel time as color, not numbers — before clocks, people read the hour from the sky.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28113" y="2221992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6350"/>
                </a:solidFill>
                <a:latin typeface="Meiryo"/>
                <a:ea typeface="Meiryo"/>
                <a:cs typeface="Meiryo"/>
              </a:rPr>
              <a:t>▼ 朝焼け 5:30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76088" y="2221992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64B4FF"/>
                </a:solidFill>
                <a:latin typeface="Meiryo"/>
                <a:ea typeface="Meiryo"/>
                <a:cs typeface="Meiryo"/>
              </a:rPr>
              <a:t>▼ 昼 12:00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4063" y="2221992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6350"/>
                </a:solidFill>
                <a:latin typeface="Meiryo"/>
                <a:ea typeface="Meiryo"/>
                <a:cs typeface="Meiryo"/>
              </a:rPr>
              <a:t>▼ 夕焼け 18:30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0363" y="1911096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B9A0E8"/>
                </a:solidFill>
                <a:latin typeface="Meiryo"/>
                <a:ea typeface="Meiryo"/>
                <a:cs typeface="Meiryo"/>
              </a:rPr>
              <a:t>▼ 夕闇 20:30</a:t>
            </a:r>
          </a:p>
        </p:txBody>
      </p:sp>
      <p:pic>
        <p:nvPicPr>
          <p:cNvPr id="9" name="Picture 8" descr="ribbon_labe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606040"/>
            <a:ext cx="10515600" cy="144589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4892040"/>
            <a:ext cx="3383280" cy="1417320"/>
          </a:xfrm>
          <a:prstGeom prst="roundRect">
            <a:avLst>
              <a:gd name="adj" fmla="val 4500"/>
            </a:avLst>
          </a:prstGeom>
          <a:solidFill>
            <a:srgbClr val="1B2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093207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14</a:t>
            </a:r>
          </a:p>
          <a:p>
            <a:pPr algn="ctr"/>
            <a:r>
              <a:rPr sz="12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キーカラーを24時間に配置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4892040"/>
            <a:ext cx="3383280" cy="1417320"/>
          </a:xfrm>
          <a:prstGeom prst="roundRect">
            <a:avLst>
              <a:gd name="adj" fmla="val 4500"/>
            </a:avLst>
          </a:prstGeom>
          <a:solidFill>
            <a:srgbClr val="1B2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5093207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86,400</a:t>
            </a:r>
          </a:p>
          <a:p>
            <a:pPr algn="ctr"/>
            <a:r>
              <a:rPr sz="12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回/日 の色計算 (毎秒補間)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4892040"/>
            <a:ext cx="3383280" cy="1417320"/>
          </a:xfrm>
          <a:prstGeom prst="roundRect">
            <a:avLst>
              <a:gd name="adj" fmla="val 4500"/>
            </a:avLst>
          </a:prstGeom>
          <a:solidFill>
            <a:srgbClr val="1B2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0" y="5093207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16,777,216</a:t>
            </a:r>
          </a:p>
          <a:p>
            <a:pPr algn="ctr"/>
            <a:r>
              <a:rPr sz="12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色の内部精度 (24bit)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実機デモ — すべて実際の動作画面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926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A9B4D6"/>
                </a:solidFill>
                <a:latin typeface="Meiryo"/>
                <a:ea typeface="Meiryo"/>
                <a:cs typeface="Meiryo"/>
              </a:rPr>
              <a:t>Live demo — every feature running on the real device</a:t>
            </a:r>
          </a:p>
        </p:txBody>
      </p:sp>
      <p:pic>
        <p:nvPicPr>
          <p:cNvPr id="5" name="Picture 4" descr="photo_timetrav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71600"/>
            <a:ext cx="3291840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870448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タイムトラベル — 指でなぞって朝焼けへ</a:t>
            </a:r>
          </a:p>
          <a:p>
            <a:pPr algn="ctr"/>
            <a:r>
              <a:rPr sz="1050" b="0" i="1">
                <a:solidFill>
                  <a:srgbClr val="A9B4D6"/>
                </a:solidFill>
                <a:latin typeface="Meiryo"/>
                <a:ea typeface="Meiryo"/>
                <a:cs typeface="Meiryo"/>
              </a:rPr>
              <a:t>Time Travel — drag to sunrise</a:t>
            </a:r>
          </a:p>
        </p:txBody>
      </p:sp>
      <p:pic>
        <p:nvPicPr>
          <p:cNvPr id="7" name="Picture 6" descr="photo_ti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8848" y="1371600"/>
            <a:ext cx="3291840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498848" y="5870448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傾き絵の具 — 傾けて、にじませる</a:t>
            </a:r>
          </a:p>
          <a:p>
            <a:pPr algn="ctr"/>
            <a:r>
              <a:rPr sz="1050" b="0" i="1">
                <a:solidFill>
                  <a:srgbClr val="A9B4D6"/>
                </a:solidFill>
                <a:latin typeface="Meiryo"/>
                <a:ea typeface="Meiryo"/>
                <a:cs typeface="Meiryo"/>
              </a:rPr>
              <a:t>Tilt Paint — watercolor by gravity</a:t>
            </a:r>
          </a:p>
        </p:txBody>
      </p:sp>
      <p:pic>
        <p:nvPicPr>
          <p:cNvPr id="9" name="Picture 8" descr="photo_mix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4736" y="1371600"/>
            <a:ext cx="3291840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74736" y="5870448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色づくり — 混ぜて、聴く</a:t>
            </a:r>
          </a:p>
          <a:p>
            <a:pPr algn="ctr"/>
            <a:r>
              <a:rPr sz="1050" b="0" i="1">
                <a:solidFill>
                  <a:srgbClr val="A9B4D6"/>
                </a:solidFill>
                <a:latin typeface="Meiryo"/>
                <a:ea typeface="Meiryo"/>
                <a:cs typeface="Meiryo"/>
              </a:rPr>
              <a:t>Color Maker — mix it, hear it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6350"/>
                </a:solidFill>
                <a:latin typeface="Meiryo"/>
                <a:ea typeface="Meiryo"/>
                <a:cs typeface="Meiryo"/>
              </a:rPr>
              <a:t>①  </a:t>
            </a:r>
            <a:r>
              <a:rPr sz="3000" b="1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色時計 — 空を写す文字盤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926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A9B4D6"/>
                </a:solidFill>
                <a:latin typeface="Meiryo"/>
                <a:ea typeface="Meiryo"/>
                <a:cs typeface="Meiryo"/>
              </a:rPr>
              <a:t>Color Clock — a dial that mirrors the sky</a:t>
            </a:r>
          </a:p>
        </p:txBody>
      </p:sp>
      <p:pic>
        <p:nvPicPr>
          <p:cNvPr id="5" name="Picture 4" descr="mock_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08760"/>
            <a:ext cx="475488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63640" y="1645920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毎秒、空の色を計算する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14のキーカラーを線形補間し、朝焼けから夕闇へ。縁のリングに1日分の色が並び、白いマーカーが「いま」を指す。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14 key colors interpolated every second; the bezel ring previews the whole day.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3291840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タイムトラベル (タッチ)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文字盤=24時間。画面をなぞると、その角度の時刻の色へ瞬間移動。時を越えるたびに音が鳴る。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Touch and drag around the dial to visit any hour's color — with a note per hour.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4937760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1日を48秒で再生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右長押しで24時間の色の旅をタイムラプス再生。1時間ごとにその色の音 — 1日が色とメロディになる。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Long-press to replay 24 hours in 48 seconds — the day becomes color and melody.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6350"/>
                </a:solidFill>
                <a:latin typeface="Meiryo"/>
                <a:ea typeface="Meiryo"/>
                <a:cs typeface="Meiryo"/>
              </a:rPr>
              <a:t>②  </a:t>
            </a:r>
            <a:r>
              <a:rPr sz="3000" b="1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色づくり — 混ぜて、聴く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926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A9B4D6"/>
                </a:solidFill>
                <a:latin typeface="Meiryo"/>
                <a:ea typeface="Meiryo"/>
                <a:cs typeface="Meiryo"/>
              </a:rPr>
              <a:t>Color Maker — mix it, hear it</a:t>
            </a:r>
          </a:p>
        </p:txBody>
      </p:sp>
      <p:pic>
        <p:nvPicPr>
          <p:cNvPr id="5" name="Picture 4" descr="mock_mix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508760"/>
            <a:ext cx="475488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1645920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左で選ぶ、右で混ぜる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混色は累積平均 — 足すほど1滴が繊細になる絵の具の感覚。理論上1,677万色のどの色にも。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Running-average mixing feels like real paint — 16.7M colors within reach.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91840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できた色が、音になる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色相をペンタトニック音階にマッピング。赤は低く、紫は高く。「好きな色の音」を探すあそび。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Every mix plays its own note: hue maps to a pentatonic scale, red low, violet high.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937760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振れば、偶然の色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本体をシェイクすると1,677万色からランダムな一色。気に入ればそこから混ぜて調整。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Shake the device for a random color, then refine it by mixing.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6350"/>
                </a:solidFill>
                <a:latin typeface="Meiryo"/>
                <a:ea typeface="Meiryo"/>
                <a:cs typeface="Meiryo"/>
              </a:rPr>
              <a:t>③  </a:t>
            </a:r>
            <a:r>
              <a:rPr sz="3000" b="1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傾き絵の具 — かたむけて、にじませる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926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A9B4D6"/>
                </a:solidFill>
                <a:latin typeface="Meiryo"/>
                <a:ea typeface="Meiryo"/>
                <a:cs typeface="Meiryo"/>
              </a:rPr>
              <a:t>Tilt Paint — watercolor by gravity</a:t>
            </a:r>
          </a:p>
        </p:txBody>
      </p:sp>
      <p:pic>
        <p:nvPicPr>
          <p:cNvPr id="5" name="Picture 4" descr="mock_ti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508760"/>
            <a:ext cx="475488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1645920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傾けると、絵の具が流れる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IMU (BMI270) が傾きを検出。傾けた側へ色が流れ込み、低い側ほど濃く積もる — 色の強い場所と弱い場所。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The IMU pours color toward the low side — pooling dark, thinning light.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91840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水彩のようなにじみ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毎フレームの拡散処理で、隣りあう色がじわっと混ざる。左右のボタンで2つの絵の具つぼの色を選ぶ。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A per-frame diffusion pass bleeds neighboring colors like wet-on-wet paper.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937760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星屑のようなキラキラ音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傾けている間、高音のペンタトニックがランダムにまたたく。傾きが強いほど、大きく・速く。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Pentatonic sparkles twinkle louder and faster the harder you tilt.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6350"/>
                </a:solidFill>
                <a:latin typeface="Meiryo"/>
                <a:ea typeface="Meiryo"/>
                <a:cs typeface="Meiryo"/>
              </a:rPr>
              <a:t>④  </a:t>
            </a:r>
            <a:r>
              <a:rPr sz="3000" b="1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声の色 — あなたの声は何色?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926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A9B4D6"/>
                </a:solidFill>
                <a:latin typeface="Meiryo"/>
                <a:ea typeface="Meiryo"/>
                <a:cs typeface="Meiryo"/>
              </a:rPr>
              <a:t>Voice Color — what does your voice look like?</a:t>
            </a:r>
          </a:p>
        </p:txBody>
      </p:sp>
      <p:pic>
        <p:nvPicPr>
          <p:cNvPr id="5" name="Picture 4" descr="mock_vo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508760"/>
            <a:ext cx="475488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1645920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話しかけると、色になる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マイクが声をリアルタイムに色へ。声の高さ→色相 (低い声は赤、高い声は紫)、大きさ→明るさ。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Pitch becomes hue, loudness becomes brightness — in real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91840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声の色が、返事をする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話し終わると、デバイスが「あなたの声の色の音」を鳴らして返す。歌えば色が踊る。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Stop talking, and the device answers with the sound of your color.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937760"/>
            <a:ext cx="5120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マイクとスピーカーの自動交代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共有コーデック (ES8311) を、聴くとき=マイク、鳴らすとき=スピーカーへ自動で切り替え。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The shared ES8311 codec swaps between mic and speaker automatically.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6350"/>
                </a:solidFill>
                <a:latin typeface="Meiryo"/>
                <a:ea typeface="Meiryo"/>
                <a:cs typeface="Meiryo"/>
              </a:rPr>
              <a:t>⑤  </a:t>
            </a:r>
            <a:r>
              <a:rPr sz="3000" b="1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部屋の空気も、その色に — 環境光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926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A9B4D6"/>
                </a:solidFill>
                <a:latin typeface="Meiryo"/>
                <a:ea typeface="Meiryo"/>
                <a:cs typeface="Meiryo"/>
              </a:rPr>
              <a:t>Ambient Light — the room wears the color</a:t>
            </a:r>
          </a:p>
        </p:txBody>
      </p:sp>
      <p:pic>
        <p:nvPicPr>
          <p:cNvPr id="5" name="Picture 4" descr="mock_hex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508760"/>
            <a:ext cx="4480560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1645920"/>
            <a:ext cx="5394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Unit Hex (LED×37) と連動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つなぐだけで、37個のLEDが全モードの「いまの色」と同期。空の色が部屋ににじみ出す。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37 NeoPixels mirror the current color of every mode — just plug it 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91840"/>
            <a:ext cx="5394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本体だけで細かく調整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LEDのオン/オフ・明るさ (2〜100%)・音量まで、ボタンとゲージ画面で調整。設定は保存。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On-device gauge screens for LED brightness (2-100%) and volume; settings persist.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937760"/>
            <a:ext cx="5394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5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色ランダムモード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時計を動かしたまま、背景色がランダムに漂う。LEDは37個バラバラにきらめく星空になる。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Random mode drifts the clock's color and turns the panel into a twinkling starfield.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6350"/>
                </a:solidFill>
                <a:latin typeface="Meiryo"/>
                <a:ea typeface="Meiryo"/>
                <a:cs typeface="Meiryo"/>
              </a:rPr>
              <a:t>⑥  </a:t>
            </a:r>
            <a:r>
              <a:rPr sz="3000" b="1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ストップウォッチ &amp; 星空のサウンド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926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A9B4D6"/>
                </a:solidFill>
                <a:latin typeface="Meiryo"/>
                <a:ea typeface="Meiryo"/>
                <a:cs typeface="Meiryo"/>
              </a:rPr>
              <a:t>Stopwatch &amp; the sounds of stars, sky and earth</a:t>
            </a:r>
          </a:p>
        </p:txBody>
      </p:sp>
      <p:pic>
        <p:nvPicPr>
          <p:cNvPr id="5" name="Picture 4" descr="mock_stopw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91640"/>
            <a:ext cx="4069080" cy="40690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40680" y="1554480"/>
            <a:ext cx="5897880" cy="2514600"/>
          </a:xfrm>
          <a:prstGeom prst="roundRect">
            <a:avLst>
              <a:gd name="adj" fmla="val 4500"/>
            </a:avLst>
          </a:prstGeom>
          <a:solidFill>
            <a:srgbClr val="1B2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0" y="1755648"/>
            <a:ext cx="5257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星・空・地球をイメージした音</a:t>
            </a:r>
          </a:p>
          <a:p>
            <a:pPr algn="l">
              <a:spcAft>
                <a:spcPts val="700"/>
              </a:spcAft>
            </a:pPr>
            <a:r>
              <a:rPr sz="1150" b="0" i="1">
                <a:solidFill>
                  <a:srgbClr val="A9B4D6"/>
                </a:solidFill>
                <a:latin typeface="Meiryo"/>
                <a:ea typeface="Meiryo"/>
                <a:cs typeface="Meiryo"/>
              </a:rPr>
              <a:t>Every sound is celestial-themed</a:t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・モード切替 — 星のまたたきのような2音 / star-twinkle</a:t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・毎正時 — 遠くの鐘のような上昇アルペジオ / hourly bell</a:t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・色を混ぜた瞬間 — その色自身の音 / the color's own note</a:t>
            </a:r>
          </a:p>
          <a:p>
            <a:pPr algn="l"/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・消音 — 大地を思わせる低い一音 / a low "earth" tone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40680" y="4251960"/>
            <a:ext cx="5897880" cy="1783080"/>
          </a:xfrm>
          <a:prstGeom prst="roundRect">
            <a:avLst>
              <a:gd name="adj" fmla="val 4500"/>
            </a:avLst>
          </a:prstGeom>
          <a:solidFill>
            <a:srgbClr val="1B2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0" y="4453128"/>
            <a:ext cx="5257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1/100秒ストップウォッチ</a:t>
            </a:r>
          </a:p>
          <a:p>
            <a:pPr algn="l">
              <a:spcAft>
                <a:spcPts val="700"/>
              </a:spcAft>
            </a:pPr>
            <a:r>
              <a:rPr sz="1150" b="0" i="1">
                <a:solidFill>
                  <a:srgbClr val="A9B4D6"/>
                </a:solidFill>
                <a:latin typeface="Meiryo"/>
                <a:ea typeface="Meiryo"/>
                <a:cs typeface="Meiryo"/>
              </a:rPr>
              <a:t>A lap-capable 1/100s stopwatch, true to the device's name</a:t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・左ボタンでスタート/ストップ、右ボタンでラップ/リセット</a:t>
            </a:r>
          </a:p>
          <a:p>
            <a:pPr algn="l"/>
            <a:r>
              <a:rPr sz="135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・デバイス名 “StopWatch” への、まっすぐなリスペクト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つくりかた — 技術構成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9264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A9B4D6"/>
                </a:solidFill>
                <a:latin typeface="Meiryo"/>
                <a:ea typeface="Meiryo"/>
                <a:cs typeface="Meiryo"/>
              </a:rPr>
              <a:t>How it works — hardware &amp; software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71600"/>
            <a:ext cx="5257800" cy="4206240"/>
          </a:xfrm>
          <a:prstGeom prst="roundRect">
            <a:avLst>
              <a:gd name="adj" fmla="val 4500"/>
            </a:avLst>
          </a:prstGeom>
          <a:solidFill>
            <a:srgbClr val="1B2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52628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ハードウェア / Hardware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・M5Stack StopWatch (ESP32-S3R8, 240MHz)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・1.75インチ 円形AMOLEDタッチ 466×466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・IMU BMI270 — 傾き検出・シェイク検出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・ES8311 コーデック + 1Wスピーカー + マイク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・RTC RX8130CE + Wi-Fi (時刻はNTPで自動同期)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・Unit Hex (SK6812×37) をPortAに接続可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・3Dプリント製スタンド (Unit Hex組み込み)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371600"/>
            <a:ext cx="5257800" cy="4206240"/>
          </a:xfrm>
          <a:prstGeom prst="roundRect">
            <a:avLst>
              <a:gd name="adj" fmla="val 4500"/>
            </a:avLst>
          </a:prstGeom>
          <a:solidFill>
            <a:srgbClr val="1B22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1645920"/>
            <a:ext cx="452628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 i="0">
                <a:solidFill>
                  <a:srgbClr val="F9C46B"/>
                </a:solidFill>
                <a:latin typeface="Meiryo"/>
                <a:ea typeface="Meiryo"/>
                <a:cs typeface="Meiryo"/>
              </a:rPr>
              <a:t>ソフトウェア / Software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・PlatformIO + Arduino + M5Unified / FastLED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・カラーエンジン: 14キーフレームの線形補間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・混色: 累積平均 / 水彩: 58×58格子の拡散 (15fps)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・色→音: 色相→ペンタトニック2オクターブ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・声→色: RMS (大きさ) + ゼロ交差率 (高さ)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・Wi-Fi設定はスマホから / 設定はNVSへ永続化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8978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ソースコード・ビルド手順・STLを全公開 / Full source, build steps &amp; STL: github.com/aokko2000/iroirotokei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n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965960"/>
            <a:ext cx="10360152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5200" b="1" i="0">
                <a:solidFill>
                  <a:srgbClr val="F2F4FF"/>
                </a:solidFill>
                <a:latin typeface="Meiryo"/>
                <a:ea typeface="Meiryo"/>
                <a:cs typeface="Meiryo"/>
              </a:rPr>
              <a:t>空を、手のひらに。</a:t>
            </a:r>
          </a:p>
          <a:p>
            <a:pPr algn="ctr">
              <a:spcAft>
                <a:spcPts val="1400"/>
              </a:spcAft>
            </a:pPr>
            <a:r>
              <a:rPr sz="2000" b="0" i="1">
                <a:solidFill>
                  <a:srgbClr val="A9B4D6"/>
                </a:solidFill>
                <a:latin typeface="Meiryo"/>
                <a:ea typeface="Meiryo"/>
                <a:cs typeface="Meiryo"/>
              </a:rPr>
              <a:t>The sky, in your palm.</a:t>
            </a:r>
          </a:p>
          <a:p>
            <a:pPr algn="ctr">
              <a:spcAft>
                <a:spcPts val="1000"/>
              </a:spcAft>
            </a:pPr>
            <a:r>
              <a:rPr sz="1800" b="0" i="1">
                <a:solidFill>
                  <a:srgbClr val="F9C46B"/>
                </a:solidFill>
                <a:latin typeface="Meiryo"/>
                <a:ea typeface="Meiryo"/>
                <a:cs typeface="Meiryo"/>
              </a:rPr>
              <a:t>iroirotokei — A Color Clock That Paints Time</a:t>
            </a:r>
          </a:p>
          <a:p>
            <a:pPr algn="ctr"/>
            <a:r>
              <a:rPr sz="130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M5Stack Global Innovation Contest 2026  |  github.com/aokko2000/iroirotokei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5138928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A9B4D6"/>
                </a:solidFill>
                <a:latin typeface="Meiryo"/>
                <a:ea typeface="Meiryo"/>
                <a:cs typeface="Meiryo"/>
              </a:rPr>
              <a:t>0:00 → 24:00 (実機と同じカラーテーブルから生成)</a:t>
            </a:r>
          </a:p>
        </p:txBody>
      </p:sp>
      <p:pic>
        <p:nvPicPr>
          <p:cNvPr id="5" name="Picture 4" descr="ribb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5440680"/>
            <a:ext cx="10515600" cy="7772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