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mock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234440"/>
            <a:ext cx="3977639" cy="3977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874519"/>
            <a:ext cx="6583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7600" b="1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色時計</a:t>
            </a:r>
          </a:p>
          <a:p>
            <a:pPr algn="l">
              <a:spcAft>
                <a:spcPts val="2000"/>
              </a:spcAft>
            </a:pPr>
            <a:r>
              <a:rPr sz="1900" b="0" i="1">
                <a:solidFill>
                  <a:srgbClr val="F9C46B"/>
                </a:solidFill>
                <a:latin typeface="Meiryo"/>
                <a:ea typeface="Meiryo"/>
                <a:cs typeface="Meiryo"/>
              </a:rPr>
              <a:t>iroirotokei — A Color Clock That Paints Time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7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24時間、空の色をなぞって変わりつづけるカラークロック。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7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1,677万色から自分の色を混ぜて、その色を音で聴く。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かたむければ水彩のように混ざり、声さえも色になる。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9B4D6"/>
                </a:solidFill>
                <a:latin typeface="Meiryo"/>
                <a:ea typeface="Meiryo"/>
                <a:cs typeface="Meiryo"/>
              </a:rPr>
              <a:t>M5Stack StopWatch  |  M5Stack Global Innovation Contest 2026 応募作品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時間を、数字ではなく色で感じる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A9B4D6"/>
                </a:solidFill>
                <a:latin typeface="Meiryo"/>
                <a:ea typeface="Meiryo"/>
                <a:cs typeface="Meiryo"/>
              </a:rPr>
              <a:t>時計がなかった頃、人は空の色で時を知った。色時計はその感覚をデジタルに取り戻す。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8113" y="2221992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6350"/>
                </a:solidFill>
                <a:latin typeface="Meiryo"/>
                <a:ea typeface="Meiryo"/>
                <a:cs typeface="Meiryo"/>
              </a:rPr>
              <a:t>▼ 朝焼け 5:30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76088" y="2221992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64B4FF"/>
                </a:solidFill>
                <a:latin typeface="Meiryo"/>
                <a:ea typeface="Meiryo"/>
                <a:cs typeface="Meiryo"/>
              </a:rPr>
              <a:t>▼ 昼 12:00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4063" y="2221992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6350"/>
                </a:solidFill>
                <a:latin typeface="Meiryo"/>
                <a:ea typeface="Meiryo"/>
                <a:cs typeface="Meiryo"/>
              </a:rPr>
              <a:t>▼ 夕焼け 18:30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363" y="1911096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B9A0E8"/>
                </a:solidFill>
                <a:latin typeface="Meiryo"/>
                <a:ea typeface="Meiryo"/>
                <a:cs typeface="Meiryo"/>
              </a:rPr>
              <a:t>▼ 夕闇 20:30</a:t>
            </a:r>
          </a:p>
        </p:txBody>
      </p:sp>
      <p:pic>
        <p:nvPicPr>
          <p:cNvPr id="9" name="Picture 8" descr="ribbon_labe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06040"/>
            <a:ext cx="10515600" cy="144589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4892040"/>
            <a:ext cx="3383280" cy="1417320"/>
          </a:xfrm>
          <a:prstGeom prst="roundRect">
            <a:avLst>
              <a:gd name="adj" fmla="val 4500"/>
            </a:avLst>
          </a:prstGeom>
          <a:solidFill>
            <a:srgbClr val="1B2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93207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14</a:t>
            </a:r>
          </a:p>
          <a:p>
            <a:pPr algn="ctr"/>
            <a:r>
              <a:rPr sz="1250" b="0" i="0">
                <a:solidFill>
                  <a:srgbClr val="A9B4D6"/>
                </a:solidFill>
                <a:latin typeface="Meiryo"/>
                <a:ea typeface="Meiryo"/>
                <a:cs typeface="Meiryo"/>
              </a:rPr>
              <a:t>キーカラーを24時間に配置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892040"/>
            <a:ext cx="3383280" cy="1417320"/>
          </a:xfrm>
          <a:prstGeom prst="roundRect">
            <a:avLst>
              <a:gd name="adj" fmla="val 4500"/>
            </a:avLst>
          </a:prstGeom>
          <a:solidFill>
            <a:srgbClr val="1B2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5093207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86,400</a:t>
            </a:r>
          </a:p>
          <a:p>
            <a:pPr algn="ctr"/>
            <a:r>
              <a:rPr sz="1250" b="0" i="0">
                <a:solidFill>
                  <a:srgbClr val="A9B4D6"/>
                </a:solidFill>
                <a:latin typeface="Meiryo"/>
                <a:ea typeface="Meiryo"/>
                <a:cs typeface="Meiryo"/>
              </a:rPr>
              <a:t>回/日 の色計算 (毎秒補間)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4892040"/>
            <a:ext cx="3383280" cy="1417320"/>
          </a:xfrm>
          <a:prstGeom prst="roundRect">
            <a:avLst>
              <a:gd name="adj" fmla="val 4500"/>
            </a:avLst>
          </a:prstGeom>
          <a:solidFill>
            <a:srgbClr val="1B2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5093207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16,777,216</a:t>
            </a:r>
          </a:p>
          <a:p>
            <a:pPr algn="ctr"/>
            <a:r>
              <a:rPr sz="1250" b="0" i="0">
                <a:solidFill>
                  <a:srgbClr val="A9B4D6"/>
                </a:solidFill>
                <a:latin typeface="Meiryo"/>
                <a:ea typeface="Meiryo"/>
                <a:cs typeface="Meiryo"/>
              </a:rPr>
              <a:t>色の内部精度 (24bit)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6350"/>
                </a:solidFill>
                <a:latin typeface="Meiryo"/>
                <a:ea typeface="Meiryo"/>
                <a:cs typeface="Meiryo"/>
              </a:rPr>
              <a:t>①  </a:t>
            </a:r>
            <a:r>
              <a:rPr sz="3000" b="1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色時計 — 空を写す文字盤</a:t>
            </a:r>
          </a:p>
        </p:txBody>
      </p:sp>
      <p:pic>
        <p:nvPicPr>
          <p:cNvPr id="4" name="Picture 3" descr="mock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489204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160020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毎秒、空の色を計算する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14のキーカラーを線形補間し、朝焼けから夕闇へ。縁のリングに1日分の色が並び、白いマーカーが「いま」を指す。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324612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タイムトラベル (タッチ)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文字盤=24時間。画面をなぞると、その角度の時刻の色へ瞬間移動。時を越えるたびに音が鳴る。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89204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1日を48秒で再生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右長押しで24時間の色の旅をタイムラプス再生。1時間ごとにその色の音 — 1日が色とメロディになる。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6350"/>
                </a:solidFill>
                <a:latin typeface="Meiryo"/>
                <a:ea typeface="Meiryo"/>
                <a:cs typeface="Meiryo"/>
              </a:rPr>
              <a:t>②  </a:t>
            </a:r>
            <a:r>
              <a:rPr sz="3000" b="1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色づくり — 混ぜて、聴く</a:t>
            </a:r>
          </a:p>
        </p:txBody>
      </p:sp>
      <p:pic>
        <p:nvPicPr>
          <p:cNvPr id="4" name="Picture 3" descr="mock_mix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489204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左で選ぶ、右で混ぜる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混色は累積平均 — 足すほど1滴が繊細になる絵の具の感覚。理論上1,677万色のどの色にも。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できた色が、音になる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色相をペンタトニック音階にマッピング。赤は低く、紫は高く。「好きな色の音」を探すあそび。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振れば、偶然の色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本体をシェイクすると1,677万色からランダムな一色。気に入ればそこから混ぜて調整。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6350"/>
                </a:solidFill>
                <a:latin typeface="Meiryo"/>
                <a:ea typeface="Meiryo"/>
                <a:cs typeface="Meiryo"/>
              </a:rPr>
              <a:t>③  </a:t>
            </a:r>
            <a:r>
              <a:rPr sz="3000" b="1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傾き絵の具 — かたむけて、にじませる</a:t>
            </a:r>
          </a:p>
        </p:txBody>
      </p:sp>
      <p:pic>
        <p:nvPicPr>
          <p:cNvPr id="4" name="Picture 3" descr="mock_ti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489204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傾けると、絵の具が流れる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IMU (BMI270) が傾きを検出。傾けた側へ色が流れ込み、低い側ほど濃く積もる — 色の強い場所と弱い場所。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水彩のようなにじみ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毎フレームの拡散処理で、隣りあう色がじわっと混ざる。左右のボタンで2つの絵の具つぼの色を選ぶ。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星屑のようなキラキラ音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傾けている間、高音のペンタトニックがランダムにまたたく。傾きが強いほど、大きく・速く。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6350"/>
                </a:solidFill>
                <a:latin typeface="Meiryo"/>
                <a:ea typeface="Meiryo"/>
                <a:cs typeface="Meiryo"/>
              </a:rPr>
              <a:t>④  </a:t>
            </a:r>
            <a:r>
              <a:rPr sz="3000" b="1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声の色 — あなたの声は何色?</a:t>
            </a:r>
          </a:p>
        </p:txBody>
      </p:sp>
      <p:pic>
        <p:nvPicPr>
          <p:cNvPr id="4" name="Picture 3" descr="mock_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489204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話しかけると、色になる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マイクが声をリアルタイムに色へ。声の高さ→色相 (低い声は赤、高い声は紫)、大きさ→明るさ。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声の色が、返事をする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話し終わると、デバイスが「あなたの声の色の音」を鳴らして返す。歌えば色が踊る。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5120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マイクとスピーカーの自動交代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共有コーデック (ES8311) を、聴くとき=マイク、鳴らすとき=スピーカーへ自動で切り替え。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6350"/>
                </a:solidFill>
                <a:latin typeface="Meiryo"/>
                <a:ea typeface="Meiryo"/>
                <a:cs typeface="Meiryo"/>
              </a:rPr>
              <a:t>⑤  </a:t>
            </a:r>
            <a:r>
              <a:rPr sz="3000" b="1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ストップウォッチ &amp; 星空のサウンド</a:t>
            </a:r>
          </a:p>
        </p:txBody>
      </p:sp>
      <p:pic>
        <p:nvPicPr>
          <p:cNvPr id="4" name="Picture 3" descr="mock_stop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416052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40680" y="1463040"/>
            <a:ext cx="5897880" cy="2377440"/>
          </a:xfrm>
          <a:prstGeom prst="roundRect">
            <a:avLst>
              <a:gd name="adj" fmla="val 4500"/>
            </a:avLst>
          </a:prstGeom>
          <a:solidFill>
            <a:srgbClr val="1B2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691640"/>
            <a:ext cx="5257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星・空・地球をイメージした音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・モード切替 — 星のまたたきのような2音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・毎正時 — 遠くの鐘のような上昇アルペジオ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・色を混ぜた瞬間 — その色自身の音</a:t>
            </a:r>
          </a:p>
          <a:p>
            <a:pPr algn="l"/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・消音 — 大地を思わせる低い一音。設定は本体に保存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4114800"/>
            <a:ext cx="5897880" cy="1828800"/>
          </a:xfrm>
          <a:prstGeom prst="roundRect">
            <a:avLst>
              <a:gd name="adj" fmla="val 4500"/>
            </a:avLst>
          </a:prstGeom>
          <a:solidFill>
            <a:srgbClr val="1B2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4343400"/>
            <a:ext cx="5257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1/100秒ストップウォッチ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・左ボタンでスタート/ストップ、右ボタンでラップ/リセット</a:t>
            </a:r>
          </a:p>
          <a:p>
            <a:pPr algn="l"/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・デバイス名 “StopWatch” への、まっすぐなリスペクト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つくりかた — 技術構成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5257800" cy="4206240"/>
          </a:xfrm>
          <a:prstGeom prst="roundRect">
            <a:avLst>
              <a:gd name="adj" fmla="val 4500"/>
            </a:avLst>
          </a:prstGeom>
          <a:solidFill>
            <a:srgbClr val="1B2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45262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ハードウェア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・M5Stack StopWatch (ESP32-S3R8, 240MHz)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・1.75インチ 円形AMOLEDタッチ 466×466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・IMU BMI270 — 傾き検出・シェイク検出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・ES8311 コーデック + 1Wスピーカー + マイク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・RTC RX8130CE — 電源を切っても時刻を保持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・物理ボタン×2 + タッチ + 傾き + 声で操作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4206240"/>
          </a:xfrm>
          <a:prstGeom prst="roundRect">
            <a:avLst>
              <a:gd name="adj" fmla="val 4500"/>
            </a:avLst>
          </a:prstGeom>
          <a:solidFill>
            <a:srgbClr val="1B2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645920"/>
            <a:ext cx="45262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F9C46B"/>
                </a:solidFill>
                <a:latin typeface="Meiryo"/>
                <a:ea typeface="Meiryo"/>
                <a:cs typeface="Meiryo"/>
              </a:rPr>
              <a:t>ソフトウェア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・PlatformIO + Arduino + M5Unified / M5GFX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・カラーエンジン: 14キーフレームの線形補間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・混色: 累積平均 / 水彩: 58×58格子の拡散 (15fps)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・色→音: 色相→ペンタトニック2オクターブ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・声→色: RMS (大きさ) + ゼロ交差率 (高さ)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・音設定はNVSへ永続化 / PC時刻同期スクリプト付属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A9B4D6"/>
                </a:solidFill>
                <a:latin typeface="Meiryo"/>
                <a:ea typeface="Meiryo"/>
                <a:cs typeface="Meiryo"/>
              </a:rPr>
              <a:t>ソースコード・カラーテーブル・ビルド手順は GitHub で全公開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965960"/>
            <a:ext cx="1036015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0"/>
              </a:spcAft>
            </a:pPr>
            <a:r>
              <a:rPr sz="5200" b="1" i="0">
                <a:solidFill>
                  <a:srgbClr val="F2F4FF"/>
                </a:solidFill>
                <a:latin typeface="Meiryo"/>
                <a:ea typeface="Meiryo"/>
                <a:cs typeface="Meiryo"/>
              </a:rPr>
              <a:t>空を、手のひらに。</a:t>
            </a:r>
          </a:p>
          <a:p>
            <a:pPr algn="ctr">
              <a:spcAft>
                <a:spcPts val="1000"/>
              </a:spcAft>
            </a:pPr>
            <a:r>
              <a:rPr sz="1800" b="0" i="1">
                <a:solidFill>
                  <a:srgbClr val="F9C46B"/>
                </a:solidFill>
                <a:latin typeface="Meiryo"/>
                <a:ea typeface="Meiryo"/>
                <a:cs typeface="Meiryo"/>
              </a:rPr>
              <a:t>iroirotokei — A Color Clock That Paints Time</a:t>
            </a:r>
          </a:p>
          <a:p>
            <a:pPr algn="ctr"/>
            <a:r>
              <a:rPr sz="1300" b="0" i="0">
                <a:solidFill>
                  <a:srgbClr val="A9B4D6"/>
                </a:solidFill>
                <a:latin typeface="Meiryo"/>
                <a:ea typeface="Meiryo"/>
                <a:cs typeface="Meiryo"/>
              </a:rPr>
              <a:t>M5Stack Global Innovation Contest 2026  |  Hackster.io + GitHub で公開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13892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9B4D6"/>
                </a:solidFill>
                <a:latin typeface="Meiryo"/>
                <a:ea typeface="Meiryo"/>
                <a:cs typeface="Meiryo"/>
              </a:rPr>
              <a:t>0:00 → 24:00 (実機と同じカラーテーブルから生成)</a:t>
            </a:r>
          </a:p>
        </p:txBody>
      </p:sp>
      <p:pic>
        <p:nvPicPr>
          <p:cNvPr id="5" name="Picture 4" descr="ribb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440680"/>
            <a:ext cx="10515600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